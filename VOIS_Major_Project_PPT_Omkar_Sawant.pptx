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3960"/>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886406" y="3583914"/>
            <a:ext cx="4777275" cy="861497"/>
          </a:xfrm>
        </p:spPr>
        <p:txBody>
          <a:bodyPr vert="horz" lIns="91440" tIns="45720" rIns="91440" bIns="45720" rtlCol="0" anchor="t">
            <a:normAutofit fontScale="85000" lnSpcReduction="10000"/>
          </a:bodyPr>
          <a:lstStyle/>
          <a:p>
            <a:r>
              <a:rPr lang="en-US" b="0" dirty="0">
                <a:solidFill>
                  <a:schemeClr val="tx1"/>
                </a:solidFill>
              </a:rPr>
              <a:t>Omkar Ashirvad Sawant</a:t>
            </a:r>
          </a:p>
          <a:p>
            <a:r>
              <a:rPr lang="en-IN" b="0" dirty="0" err="1">
                <a:solidFill>
                  <a:srgbClr val="000000"/>
                </a:solidFill>
              </a:rPr>
              <a:t>Finolex</a:t>
            </a:r>
            <a:r>
              <a:rPr lang="en-IN" dirty="0">
                <a:solidFill>
                  <a:srgbClr val="000000"/>
                </a:solidFill>
              </a:rPr>
              <a:t> </a:t>
            </a:r>
            <a:r>
              <a:rPr lang="en-IN" b="0" dirty="0">
                <a:solidFill>
                  <a:srgbClr val="000000"/>
                </a:solidFill>
              </a:rPr>
              <a:t>Academy</a:t>
            </a:r>
            <a:r>
              <a:rPr lang="en-IN" dirty="0">
                <a:solidFill>
                  <a:srgbClr val="000000"/>
                </a:solidFill>
              </a:rPr>
              <a:t> </a:t>
            </a:r>
            <a:r>
              <a:rPr lang="en-IN" b="0" dirty="0">
                <a:solidFill>
                  <a:srgbClr val="000000"/>
                </a:solidFill>
              </a:rPr>
              <a:t>of</a:t>
            </a:r>
            <a:r>
              <a:rPr lang="en-IN" dirty="0">
                <a:solidFill>
                  <a:srgbClr val="000000"/>
                </a:solidFill>
              </a:rPr>
              <a:t> </a:t>
            </a:r>
            <a:r>
              <a:rPr lang="en-IN" b="0" dirty="0">
                <a:solidFill>
                  <a:srgbClr val="000000"/>
                </a:solidFill>
              </a:rPr>
              <a:t>Management</a:t>
            </a:r>
            <a:r>
              <a:rPr lang="en-IN" dirty="0">
                <a:solidFill>
                  <a:srgbClr val="000000"/>
                </a:solidFill>
              </a:rPr>
              <a:t> </a:t>
            </a:r>
            <a:r>
              <a:rPr lang="en-IN" b="0" dirty="0">
                <a:solidFill>
                  <a:srgbClr val="000000"/>
                </a:solidFill>
              </a:rPr>
              <a:t>&amp;</a:t>
            </a:r>
            <a:r>
              <a:rPr lang="en-IN" dirty="0">
                <a:solidFill>
                  <a:srgbClr val="000000"/>
                </a:solidFill>
              </a:rPr>
              <a:t> </a:t>
            </a:r>
            <a:r>
              <a:rPr lang="en-IN" b="0" dirty="0">
                <a:solidFill>
                  <a:srgbClr val="000000"/>
                </a:solidFill>
              </a:rPr>
              <a:t>Technology</a:t>
            </a:r>
          </a:p>
          <a:p>
            <a:endParaRPr lang="en-US" b="0" dirty="0">
              <a:solidFill>
                <a:schemeClr val="tx1"/>
              </a:solidFill>
            </a:endParaRPr>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034596" cy="739164"/>
          </a:xfrm>
        </p:spPr>
        <p:txBody>
          <a:bodyPr>
            <a:normAutofit/>
          </a:bodyPr>
          <a:lstStyle/>
          <a:p>
            <a:r>
              <a:rPr lang="en-GB" sz="3200" dirty="0"/>
              <a:t> </a:t>
            </a:r>
            <a:r>
              <a:rPr lang="en-IN" sz="3200" dirty="0"/>
              <a:t>Seasonal</a:t>
            </a:r>
            <a:r>
              <a:rPr lang="en-IN" sz="3200" b="1" dirty="0">
                <a:latin typeface="Aptos"/>
              </a:rPr>
              <a:t> </a:t>
            </a:r>
            <a:r>
              <a:rPr lang="en-IN" sz="3200" dirty="0"/>
              <a:t>Agriculture</a:t>
            </a:r>
            <a:r>
              <a:rPr lang="en-IN" sz="3200" b="1" dirty="0">
                <a:latin typeface="Aptos"/>
              </a:rPr>
              <a:t> </a:t>
            </a:r>
            <a:r>
              <a:rPr lang="en-IN" sz="3200" dirty="0"/>
              <a:t>Performance</a:t>
            </a:r>
            <a:r>
              <a:rPr lang="en-IN" sz="3200" b="1" dirty="0">
                <a:latin typeface="Aptos"/>
              </a:rPr>
              <a:t> </a:t>
            </a:r>
            <a:r>
              <a:rPr lang="en-IN" sz="3200" dirty="0"/>
              <a:t>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508708" cy="369332"/>
          </a:xfrm>
          <a:prstGeom prst="rect">
            <a:avLst/>
          </a:prstGeom>
          <a:noFill/>
        </p:spPr>
        <p:txBody>
          <a:bodyPr wrap="square" rtlCol="0">
            <a:spAutoFit/>
          </a:bodyPr>
          <a:lstStyle/>
          <a:p>
            <a:r>
              <a:rPr lang="en-US" b="1" dirty="0"/>
              <a:t>AICTE STU ID : </a:t>
            </a:r>
            <a:r>
              <a:rPr lang="en-IN" dirty="0"/>
              <a:t>STU68f8552feaaca1761105199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65140" y="2099387"/>
            <a:ext cx="6595291" cy="3832025"/>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389812" y="933061"/>
            <a:ext cx="6276109" cy="678354"/>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3" name="TextBox 12">
            <a:extLst>
              <a:ext uri="{FF2B5EF4-FFF2-40B4-BE49-F238E27FC236}">
                <a16:creationId xmlns:a16="http://schemas.microsoft.com/office/drawing/2014/main" id="{36E7E708-E84D-AE33-6EFD-DAEE885B8E12}"/>
              </a:ext>
            </a:extLst>
          </p:cNvPr>
          <p:cNvSpPr txBox="1"/>
          <p:nvPr/>
        </p:nvSpPr>
        <p:spPr>
          <a:xfrm>
            <a:off x="467359" y="2407298"/>
            <a:ext cx="8340739" cy="3152145"/>
          </a:xfrm>
          <a:prstGeom prst="rect">
            <a:avLst/>
          </a:prstGeom>
          <a:noFill/>
        </p:spPr>
        <p:txBody>
          <a:bodyPr wrap="square" rtlCol="0">
            <a:spAutoFit/>
          </a:bodyPr>
          <a:lstStyle/>
          <a:p>
            <a:pPr>
              <a:spcAft>
                <a:spcPts val="500"/>
              </a:spcAft>
              <a:defRPr sz="1600">
                <a:solidFill>
                  <a:srgbClr val="2D2D2D"/>
                </a:solidFill>
                <a:latin typeface="Aptos"/>
              </a:defRPr>
            </a:pPr>
            <a:r>
              <a:rPr lang="en-US" dirty="0">
                <a:latin typeface="Trebuchet MS" panose="020B0603020202020204" pitchFamily="34" charset="0"/>
              </a:rPr>
              <a:t>Dataset: 4,000 farm-level records covering 8 states, 10 districts, 8 crops and 3 seasons.</a:t>
            </a:r>
          </a:p>
          <a:p>
            <a:pPr>
              <a:spcAft>
                <a:spcPts val="500"/>
              </a:spcAft>
              <a:defRPr sz="1600">
                <a:solidFill>
                  <a:srgbClr val="2D2D2D"/>
                </a:solidFill>
                <a:latin typeface="Aptos"/>
              </a:defRPr>
            </a:pPr>
            <a:r>
              <a:rPr lang="en-US" dirty="0">
                <a:latin typeface="Trebuchet MS" panose="020B0603020202020204" pitchFamily="34" charset="0"/>
              </a:rPr>
              <a:t>Workflow: data understanding → quality checks → cleaning → exploratory analysis → seasonal comparison → environmental/resource analysis → crop/state/irrigation cuts → statistical testing.</a:t>
            </a:r>
          </a:p>
          <a:p>
            <a:pPr>
              <a:spcAft>
                <a:spcPts val="500"/>
              </a:spcAft>
              <a:defRPr sz="1600">
                <a:solidFill>
                  <a:srgbClr val="2D2D2D"/>
                </a:solidFill>
                <a:latin typeface="Aptos"/>
              </a:defRPr>
            </a:pPr>
            <a:r>
              <a:rPr lang="en-US" dirty="0">
                <a:latin typeface="Trebuchet MS" panose="020B0603020202020204" pitchFamily="34" charset="0"/>
              </a:rPr>
              <a:t>Key measures: yield, production, cost, revenue, profit, profit margin, water use, water efficiency and disease/pest risk.</a:t>
            </a:r>
          </a:p>
          <a:p>
            <a:pPr>
              <a:spcAft>
                <a:spcPts val="500"/>
              </a:spcAft>
              <a:defRPr sz="1600">
                <a:solidFill>
                  <a:srgbClr val="2D2D2D"/>
                </a:solidFill>
                <a:latin typeface="Aptos"/>
              </a:defRPr>
            </a:pPr>
            <a:r>
              <a:rPr lang="en-US" dirty="0">
                <a:latin typeface="Trebuchet MS" panose="020B0603020202020204" pitchFamily="34" charset="0"/>
              </a:rPr>
              <a:t>Statistical methods: Pearson/Spearman correlation, one-way ANOVA, Bonferroni-corrected Welch tests and crop-controlled two-way ANOVA with interaction.</a:t>
            </a:r>
          </a:p>
          <a:p>
            <a:pPr>
              <a:spcAft>
                <a:spcPts val="500"/>
              </a:spcAft>
              <a:defRPr sz="1600">
                <a:solidFill>
                  <a:srgbClr val="2D2D2D"/>
                </a:solidFill>
                <a:latin typeface="Aptos"/>
              </a:defRPr>
            </a:pPr>
            <a:r>
              <a:rPr lang="en-US" dirty="0">
                <a:latin typeface="Trebuchet MS" panose="020B0603020202020204" pitchFamily="34" charset="0"/>
              </a:rPr>
              <a:t>Goal: convert raw agricultural records into evidence-based seasonal planning recommendations.</a:t>
            </a:r>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469432" y="2146040"/>
            <a:ext cx="8338666" cy="4030763"/>
          </a:xfrm>
        </p:spPr>
        <p:txBody>
          <a:bodyPr>
            <a:normAutofit/>
          </a:bodyPr>
          <a:lstStyle/>
          <a:p>
            <a:pPr>
              <a:spcAft>
                <a:spcPts val="500"/>
              </a:spcAft>
              <a:defRPr sz="1800">
                <a:solidFill>
                  <a:srgbClr val="2D2D2D"/>
                </a:solidFill>
                <a:latin typeface="Aptos"/>
              </a:defRPr>
            </a:pPr>
            <a:r>
              <a:rPr lang="en-US" sz="1600" dirty="0">
                <a:latin typeface="Trebuchet MS" panose="020B0603020202020204" pitchFamily="34" charset="0"/>
              </a:rPr>
              <a:t>Farmers and farm managers — seasonal crop and irrigation planning.</a:t>
            </a:r>
          </a:p>
          <a:p>
            <a:pPr>
              <a:spcAft>
                <a:spcPts val="500"/>
              </a:spcAft>
              <a:defRPr sz="1800">
                <a:solidFill>
                  <a:srgbClr val="2D2D2D"/>
                </a:solidFill>
                <a:latin typeface="Aptos"/>
              </a:defRPr>
            </a:pPr>
            <a:r>
              <a:rPr lang="en-US" sz="1600" dirty="0">
                <a:latin typeface="Trebuchet MS" panose="020B0603020202020204" pitchFamily="34" charset="0"/>
              </a:rPr>
              <a:t>Agricultural advisors / extension teams — identify high-risk seasons and targeted interventions.</a:t>
            </a:r>
          </a:p>
          <a:p>
            <a:pPr>
              <a:spcAft>
                <a:spcPts val="500"/>
              </a:spcAft>
              <a:defRPr sz="1800">
                <a:solidFill>
                  <a:srgbClr val="2D2D2D"/>
                </a:solidFill>
                <a:latin typeface="Aptos"/>
              </a:defRPr>
            </a:pPr>
            <a:r>
              <a:rPr lang="en-US" sz="1600" dirty="0">
                <a:latin typeface="Trebuchet MS" panose="020B0603020202020204" pitchFamily="34" charset="0"/>
              </a:rPr>
              <a:t>Agribusiness and procurement teams — understand crop, region and season profitability.</a:t>
            </a:r>
          </a:p>
          <a:p>
            <a:pPr>
              <a:spcAft>
                <a:spcPts val="500"/>
              </a:spcAft>
              <a:defRPr sz="1800">
                <a:solidFill>
                  <a:srgbClr val="2D2D2D"/>
                </a:solidFill>
                <a:latin typeface="Aptos"/>
              </a:defRPr>
            </a:pPr>
            <a:r>
              <a:rPr lang="en-US" sz="1600" dirty="0">
                <a:latin typeface="Trebuchet MS" panose="020B0603020202020204" pitchFamily="34" charset="0"/>
              </a:rPr>
              <a:t>Water-resource planners — compare water use and water efficiency across seasons and irrigation methods.</a:t>
            </a:r>
          </a:p>
          <a:p>
            <a:pPr>
              <a:spcAft>
                <a:spcPts val="500"/>
              </a:spcAft>
              <a:defRPr sz="1800">
                <a:solidFill>
                  <a:srgbClr val="2D2D2D"/>
                </a:solidFill>
                <a:latin typeface="Aptos"/>
              </a:defRPr>
            </a:pPr>
            <a:r>
              <a:rPr lang="en-US" sz="1600" dirty="0">
                <a:latin typeface="Trebuchet MS" panose="020B0603020202020204" pitchFamily="34" charset="0"/>
              </a:rPr>
              <a:t>Researchers and policymakers — use evidence on seasonal, regional and crop-level variation for planning.</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884784" y="1432560"/>
            <a:ext cx="7533535" cy="5243448"/>
          </a:xfrm>
        </p:spPr>
        <p:txBody>
          <a:bodyPr/>
          <a:lstStyle/>
          <a:p>
            <a:pPr>
              <a:spcAft>
                <a:spcPts val="500"/>
              </a:spcAft>
              <a:defRPr sz="1700">
                <a:solidFill>
                  <a:srgbClr val="2D2D2D"/>
                </a:solidFill>
                <a:latin typeface="Aptos"/>
              </a:defRPr>
            </a:pPr>
            <a:r>
              <a:rPr lang="en-IN" dirty="0"/>
              <a:t>Python — primary analysis language.</a:t>
            </a:r>
          </a:p>
          <a:p>
            <a:pPr>
              <a:spcAft>
                <a:spcPts val="500"/>
              </a:spcAft>
              <a:defRPr sz="1700">
                <a:solidFill>
                  <a:srgbClr val="2D2D2D"/>
                </a:solidFill>
                <a:latin typeface="Aptos"/>
              </a:defRPr>
            </a:pPr>
            <a:r>
              <a:rPr lang="en-IN" dirty="0"/>
              <a:t>Jupyter Notebook — end-to-end project documentation and reproducible analysis.</a:t>
            </a:r>
          </a:p>
          <a:p>
            <a:pPr>
              <a:spcAft>
                <a:spcPts val="500"/>
              </a:spcAft>
              <a:defRPr sz="1700">
                <a:solidFill>
                  <a:srgbClr val="2D2D2D"/>
                </a:solidFill>
                <a:latin typeface="Aptos"/>
              </a:defRPr>
            </a:pPr>
            <a:r>
              <a:rPr lang="en-IN" dirty="0"/>
              <a:t>Pandas &amp; NumPy — data loading, cleaning, transformation and aggregation.</a:t>
            </a:r>
          </a:p>
          <a:p>
            <a:pPr>
              <a:spcAft>
                <a:spcPts val="500"/>
              </a:spcAft>
              <a:defRPr sz="1700">
                <a:solidFill>
                  <a:srgbClr val="2D2D2D"/>
                </a:solidFill>
                <a:latin typeface="Aptos"/>
              </a:defRPr>
            </a:pPr>
            <a:r>
              <a:rPr lang="en-IN" dirty="0"/>
              <a:t>Matplotlib &amp; Seaborn — statistical and analytical visualizations.</a:t>
            </a:r>
          </a:p>
          <a:p>
            <a:pPr>
              <a:spcAft>
                <a:spcPts val="500"/>
              </a:spcAft>
              <a:defRPr sz="1700">
                <a:solidFill>
                  <a:srgbClr val="2D2D2D"/>
                </a:solidFill>
                <a:latin typeface="Aptos"/>
              </a:defRPr>
            </a:pPr>
            <a:r>
              <a:rPr lang="en-IN" dirty="0"/>
              <a:t>SciPy — correlation and statistical testing.</a:t>
            </a:r>
          </a:p>
          <a:p>
            <a:pPr>
              <a:spcAft>
                <a:spcPts val="500"/>
              </a:spcAft>
              <a:defRPr sz="1700">
                <a:solidFill>
                  <a:srgbClr val="2D2D2D"/>
                </a:solidFill>
                <a:latin typeface="Aptos"/>
              </a:defRPr>
            </a:pPr>
            <a:r>
              <a:rPr lang="en-IN" dirty="0" err="1"/>
              <a:t>Statsmodels</a:t>
            </a:r>
            <a:r>
              <a:rPr lang="en-IN" dirty="0"/>
              <a:t> — ANOVA and linear-model based analysis.</a:t>
            </a:r>
          </a:p>
          <a:p>
            <a:pPr>
              <a:spcAft>
                <a:spcPts val="500"/>
              </a:spcAft>
              <a:defRPr sz="1700">
                <a:solidFill>
                  <a:srgbClr val="2D2D2D"/>
                </a:solidFill>
                <a:latin typeface="Aptos"/>
              </a:defRPr>
            </a:pPr>
            <a:r>
              <a:rPr lang="en-IN" dirty="0"/>
              <a:t>GitHub — project/version-control repository</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CA054CC-829C-D536-01C9-3526DDEA2745}"/>
              </a:ext>
            </a:extLst>
          </p:cNvPr>
          <p:cNvPicPr>
            <a:picLocks noChangeAspect="1"/>
          </p:cNvPicPr>
          <p:nvPr/>
        </p:nvPicPr>
        <p:blipFill>
          <a:blip r:embed="rId3"/>
          <a:stretch>
            <a:fillRect/>
          </a:stretch>
        </p:blipFill>
        <p:spPr>
          <a:xfrm>
            <a:off x="675957" y="1034615"/>
            <a:ext cx="7947963" cy="5095597"/>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8725056-6599-8900-B5BE-10FE89AD1C34}"/>
              </a:ext>
            </a:extLst>
          </p:cNvPr>
          <p:cNvPicPr>
            <a:picLocks noChangeAspect="1"/>
          </p:cNvPicPr>
          <p:nvPr/>
        </p:nvPicPr>
        <p:blipFill>
          <a:blip r:embed="rId3"/>
          <a:stretch>
            <a:fillRect/>
          </a:stretch>
        </p:blipFill>
        <p:spPr>
          <a:xfrm>
            <a:off x="485993" y="1201586"/>
            <a:ext cx="8420830" cy="467670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98955CBD-2AAB-74D7-A7E5-ED4D7FCC3788}"/>
              </a:ext>
            </a:extLst>
          </p:cNvPr>
          <p:cNvPicPr>
            <a:picLocks noChangeAspect="1"/>
          </p:cNvPicPr>
          <p:nvPr/>
        </p:nvPicPr>
        <p:blipFill>
          <a:blip r:embed="rId3"/>
          <a:stretch>
            <a:fillRect/>
          </a:stretch>
        </p:blipFill>
        <p:spPr>
          <a:xfrm>
            <a:off x="663006" y="1102465"/>
            <a:ext cx="7725214" cy="508373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644AA845-0A22-21D6-9D43-A154206E2489}"/>
              </a:ext>
            </a:extLst>
          </p:cNvPr>
          <p:cNvPicPr>
            <a:picLocks noChangeAspect="1"/>
          </p:cNvPicPr>
          <p:nvPr/>
        </p:nvPicPr>
        <p:blipFill>
          <a:blip r:embed="rId3"/>
          <a:stretch>
            <a:fillRect/>
          </a:stretch>
        </p:blipFill>
        <p:spPr>
          <a:xfrm>
            <a:off x="675956" y="1044529"/>
            <a:ext cx="7712263" cy="515800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16B11605-B1FF-9024-51B0-477EF1232171}"/>
              </a:ext>
            </a:extLst>
          </p:cNvPr>
          <p:cNvPicPr>
            <a:picLocks noChangeAspect="1"/>
          </p:cNvPicPr>
          <p:nvPr/>
        </p:nvPicPr>
        <p:blipFill>
          <a:blip r:embed="rId3"/>
          <a:stretch>
            <a:fillRect/>
          </a:stretch>
        </p:blipFill>
        <p:spPr>
          <a:xfrm>
            <a:off x="320981" y="1057670"/>
            <a:ext cx="8729713" cy="467438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451183" y="697161"/>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8BA54292-DAF0-E2C3-74A4-C2A3A5CC8C25}"/>
              </a:ext>
            </a:extLst>
          </p:cNvPr>
          <p:cNvSpPr txBox="1"/>
          <p:nvPr/>
        </p:nvSpPr>
        <p:spPr>
          <a:xfrm>
            <a:off x="541176" y="2164702"/>
            <a:ext cx="8117632" cy="3370153"/>
          </a:xfrm>
          <a:prstGeom prst="rect">
            <a:avLst/>
          </a:prstGeom>
          <a:noFill/>
          <a:ln>
            <a:noFill/>
          </a:ln>
        </p:spPr>
        <p:txBody>
          <a:bodyPr wrap="square" rtlCol="0">
            <a:spAutoFit/>
          </a:bodyPr>
          <a:lstStyle/>
          <a:p>
            <a:pPr>
              <a:spcAft>
                <a:spcPts val="500"/>
              </a:spcAft>
              <a:defRPr sz="1700">
                <a:solidFill>
                  <a:srgbClr val="2D2D2D"/>
                </a:solidFill>
                <a:latin typeface="Aptos"/>
              </a:defRPr>
            </a:pPr>
            <a:r>
              <a:rPr lang="en-US" dirty="0">
                <a:latin typeface="Trebuchet MS" panose="020B0603020202020204" pitchFamily="34" charset="0"/>
              </a:rPr>
              <a:t>Build an interactive dashboard in Power BI for Season × Crop × State exploration.</a:t>
            </a:r>
          </a:p>
          <a:p>
            <a:pPr>
              <a:spcAft>
                <a:spcPts val="500"/>
              </a:spcAft>
              <a:defRPr sz="1700">
                <a:solidFill>
                  <a:srgbClr val="2D2D2D"/>
                </a:solidFill>
                <a:latin typeface="Aptos"/>
              </a:defRPr>
            </a:pPr>
            <a:r>
              <a:rPr lang="en-US" dirty="0">
                <a:latin typeface="Trebuchet MS" panose="020B0603020202020204" pitchFamily="34" charset="0"/>
              </a:rPr>
              <a:t>Extend the model with multi-year or time-series data to separate seasonal effects from year-to-year variation.</a:t>
            </a:r>
          </a:p>
          <a:p>
            <a:pPr>
              <a:spcAft>
                <a:spcPts val="500"/>
              </a:spcAft>
              <a:defRPr sz="1700">
                <a:solidFill>
                  <a:srgbClr val="2D2D2D"/>
                </a:solidFill>
                <a:latin typeface="Aptos"/>
              </a:defRPr>
            </a:pPr>
            <a:r>
              <a:rPr lang="en-US" dirty="0">
                <a:latin typeface="Trebuchet MS" panose="020B0603020202020204" pitchFamily="34" charset="0"/>
              </a:rPr>
              <a:t>Add market-price forecasting and scenario analysis for crop planning.</a:t>
            </a:r>
          </a:p>
          <a:p>
            <a:pPr>
              <a:spcAft>
                <a:spcPts val="500"/>
              </a:spcAft>
              <a:defRPr sz="1700">
                <a:solidFill>
                  <a:srgbClr val="2D2D2D"/>
                </a:solidFill>
                <a:latin typeface="Aptos"/>
              </a:defRPr>
            </a:pPr>
            <a:r>
              <a:rPr lang="en-US" dirty="0">
                <a:latin typeface="Trebuchet MS" panose="020B0603020202020204" pitchFamily="34" charset="0"/>
              </a:rPr>
              <a:t>Develop predictive models for yield, profit and loss risk using environmental and input variables.</a:t>
            </a:r>
          </a:p>
          <a:p>
            <a:pPr>
              <a:spcAft>
                <a:spcPts val="500"/>
              </a:spcAft>
              <a:defRPr sz="1700">
                <a:solidFill>
                  <a:srgbClr val="2D2D2D"/>
                </a:solidFill>
                <a:latin typeface="Aptos"/>
              </a:defRPr>
            </a:pPr>
            <a:r>
              <a:rPr lang="en-US" dirty="0">
                <a:latin typeface="Trebuchet MS" panose="020B0603020202020204" pitchFamily="34" charset="0"/>
              </a:rPr>
              <a:t>Evaluate irrigation methods with stronger controls for crop, state, soil and farm characteristics.</a:t>
            </a:r>
          </a:p>
          <a:p>
            <a:pPr>
              <a:spcAft>
                <a:spcPts val="500"/>
              </a:spcAft>
              <a:defRPr sz="1700">
                <a:solidFill>
                  <a:srgbClr val="2D2D2D"/>
                </a:solidFill>
                <a:latin typeface="Aptos"/>
              </a:defRPr>
            </a:pPr>
            <a:r>
              <a:rPr lang="en-US" dirty="0">
                <a:latin typeface="Trebuchet MS" panose="020B0603020202020204" pitchFamily="34" charset="0"/>
              </a:rPr>
              <a:t>Add geospatial analysis to identify regional hotspots for water stress, pest risk and profitability.</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https://github.com/OmiSaw2072/Seasonal-Agriculture-Performance-Analysis.git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E0BB8DC-413E-BEF5-2548-5D78FD27AA6C}"/>
              </a:ext>
            </a:extLst>
          </p:cNvPr>
          <p:cNvPicPr>
            <a:picLocks noChangeAspect="1"/>
          </p:cNvPicPr>
          <p:nvPr/>
        </p:nvPicPr>
        <p:blipFill>
          <a:blip r:embed="rId3"/>
          <a:stretch>
            <a:fillRect/>
          </a:stretch>
        </p:blipFill>
        <p:spPr>
          <a:xfrm>
            <a:off x="513016" y="1348534"/>
            <a:ext cx="7856543" cy="485632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555291" y="2216075"/>
            <a:ext cx="11340000" cy="1918704"/>
          </a:xfrm>
          <a:prstGeom prst="rect">
            <a:avLst/>
          </a:prstGeom>
        </p:spPr>
        <p:txBody>
          <a:bodyPr anchor="ctr">
            <a:normAutofit/>
          </a:bodyPr>
          <a:lstStyle/>
          <a:p>
            <a:pPr algn="ctr"/>
            <a:r>
              <a:rPr lang="en-US" sz="6000" b="1" dirty="0">
                <a:solidFill>
                  <a:schemeClr val="tx1"/>
                </a:solidFill>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Helena</Template>
  <TotalTime>1425</TotalTime>
  <Words>483</Words>
  <Application>Microsoft Office PowerPoint</Application>
  <PresentationFormat>Widescreen</PresentationFormat>
  <Paragraphs>44</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Arial</vt:lpstr>
      <vt:lpstr>Calibri</vt:lpstr>
      <vt:lpstr>Trebuchet MS</vt:lpstr>
      <vt:lpstr>Wingdings</vt:lpstr>
      <vt:lpstr>Wingdings 3</vt:lpstr>
      <vt:lpstr>Facet</vt:lpstr>
      <vt:lpstr>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Omkar Sawant</cp:lastModifiedBy>
  <cp:revision>100</cp:revision>
  <dcterms:created xsi:type="dcterms:W3CDTF">2021-07-11T13:13:15Z</dcterms:created>
  <dcterms:modified xsi:type="dcterms:W3CDTF">2026-09-10T07:18:20Z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